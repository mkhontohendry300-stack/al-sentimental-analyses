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bin" panose="020B0604020202020204" charset="0"/>
      <p:regular r:id="rId14"/>
    </p:embeddedFont>
    <p:embeddedFont>
      <p:font typeface="Unbounde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  <a:srgbClr val="061722"/>
    <a:srgbClr val="1C36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556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mind-pulse-ai-a1bd00d7.base44.app/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7763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MindPulse AI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140625"/>
            <a:ext cx="7468553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Tracking Emotions. Empowering Well-being.</a:t>
            </a:r>
            <a:endParaRPr lang="en-US" sz="6100" dirty="0"/>
          </a:p>
        </p:txBody>
      </p:sp>
      <p:sp>
        <p:nvSpPr>
          <p:cNvPr id="5" name="Text 2"/>
          <p:cNvSpPr/>
          <p:nvPr/>
        </p:nvSpPr>
        <p:spPr>
          <a:xfrm>
            <a:off x="837724" y="638579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professional AI-powered Sentiment Dashboard for mental health and emotional well-being trends.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5423" y="763191"/>
            <a:ext cx="255162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245423" y="1168718"/>
            <a:ext cx="7625953" cy="127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AI for Mental Well-being?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245423" y="2769632"/>
            <a:ext cx="3704511" cy="2431375"/>
          </a:xfrm>
          <a:prstGeom prst="roundRect">
            <a:avLst>
              <a:gd name="adj" fmla="val 6017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6214943" y="2769632"/>
            <a:ext cx="121920" cy="2431375"/>
          </a:xfrm>
          <a:prstGeom prst="roundRect">
            <a:avLst>
              <a:gd name="adj" fmla="val 2668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6584156" y="3016925"/>
            <a:ext cx="3118485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Critical Monitoring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4156" y="3912513"/>
            <a:ext cx="3118485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early mental health warning signs across communities and platforms.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166747" y="2769632"/>
            <a:ext cx="3704630" cy="2431375"/>
          </a:xfrm>
          <a:prstGeom prst="roundRect">
            <a:avLst>
              <a:gd name="adj" fmla="val 6017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10136267" y="2769632"/>
            <a:ext cx="121920" cy="2431375"/>
          </a:xfrm>
          <a:prstGeom prst="roundRect">
            <a:avLst>
              <a:gd name="adj" fmla="val 2668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10505480" y="3016925"/>
            <a:ext cx="311860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Data-Driven Insights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505480" y="3912513"/>
            <a:ext cx="3118604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actionable insights for awareness campaigns and well-being programs.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5423" y="5417820"/>
            <a:ext cx="3704511" cy="2048589"/>
          </a:xfrm>
          <a:prstGeom prst="roundRect">
            <a:avLst>
              <a:gd name="adj" fmla="val 7142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6214943" y="5417820"/>
            <a:ext cx="121920" cy="2048589"/>
          </a:xfrm>
          <a:prstGeom prst="roundRect">
            <a:avLst>
              <a:gd name="adj" fmla="val 26684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6584156" y="5665113"/>
            <a:ext cx="3061930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Scale &amp; Reach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584156" y="6177915"/>
            <a:ext cx="3118485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Help organizations, counselors, and universities monitor large populations efficiently.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A6D85E-E7E5-3F5A-9100-40D082565FB1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30235"/>
            <a:ext cx="1189696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Emotion Detection: How It Works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1300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MindPulse AI uses advanced NLP and image analysis to detect nuanced emotional tones.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1872972" y="31859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3681532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Social media, news, comments, and user journals.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765227"/>
            <a:ext cx="4534138" cy="453413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3516" y="3554849"/>
            <a:ext cx="358140" cy="3581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41243" y="29944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NLP Analysis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41243" y="3489960"/>
            <a:ext cx="38514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 text for emotional tones: stress, anxiety, joy, sadness, anger, calm.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131" y="2765227"/>
            <a:ext cx="4534138" cy="453413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4388" y="3940612"/>
            <a:ext cx="358140" cy="3581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41243" y="5632490"/>
            <a:ext cx="287571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Image Sentiment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41243" y="6128028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Upload feature to analyze emotional sentiment in images.</a:t>
            </a:r>
            <a:endParaRPr lang="en-US" sz="1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131" y="2765227"/>
            <a:ext cx="4534138" cy="453413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48625" y="6151483"/>
            <a:ext cx="358140" cy="3581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37724" y="5456515"/>
            <a:ext cx="3851434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Visualization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837724" y="6304002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Visualize mood patterns and sentiment over time.</a:t>
            </a:r>
            <a:endParaRPr lang="en-US" sz="18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8131" y="2765227"/>
            <a:ext cx="4534138" cy="453413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7753" y="5765721"/>
            <a:ext cx="358140" cy="35814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DE9BEA3-CD73-78E1-BA10-4E40760320B1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9DEDF4-38A2-9933-B4C9-AA674CE7C454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ext 0"/>
          <p:cNvSpPr/>
          <p:nvPr/>
        </p:nvSpPr>
        <p:spPr>
          <a:xfrm>
            <a:off x="573048" y="450175"/>
            <a:ext cx="5549503" cy="48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Analytics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3048" y="1341001"/>
            <a:ext cx="3709988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Emotion Distribution Dashboard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3048" y="1745456"/>
            <a:ext cx="654248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Visualize the breakdown of Joy, Sadness, Fear, Anger, and Calm across your community with intuitive pie charts.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48" y="2453521"/>
            <a:ext cx="6542484" cy="65424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22488" y="1341001"/>
            <a:ext cx="2187535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Sentiment Timeline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22488" y="1745456"/>
            <a:ext cx="654248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Track mood shifts daily, weekly, or monthly to identify patterns and seasonal trends in collective emotional health.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488" y="2453521"/>
            <a:ext cx="6542484" cy="65424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79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01" y="239316"/>
            <a:ext cx="4323278" cy="775215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56722" y="526613"/>
            <a:ext cx="739997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Advanced Intelligence Tools</a:t>
            </a:r>
            <a:endParaRPr lang="en-US" sz="3500" dirty="0"/>
          </a:p>
        </p:txBody>
      </p:sp>
      <p:sp>
        <p:nvSpPr>
          <p:cNvPr id="5" name="Shape 1"/>
          <p:cNvSpPr/>
          <p:nvPr/>
        </p:nvSpPr>
        <p:spPr>
          <a:xfrm>
            <a:off x="6156722" y="1377196"/>
            <a:ext cx="7803356" cy="1438156"/>
          </a:xfrm>
          <a:prstGeom prst="roundRect">
            <a:avLst>
              <a:gd name="adj" fmla="val 763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2"/>
          <p:cNvSpPr/>
          <p:nvPr/>
        </p:nvSpPr>
        <p:spPr>
          <a:xfrm>
            <a:off x="6133862" y="1377196"/>
            <a:ext cx="91440" cy="1438156"/>
          </a:xfrm>
          <a:prstGeom prst="roundRect">
            <a:avLst>
              <a:gd name="adj" fmla="val 3142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3"/>
          <p:cNvSpPr/>
          <p:nvPr/>
        </p:nvSpPr>
        <p:spPr>
          <a:xfrm>
            <a:off x="6439614" y="1591508"/>
            <a:ext cx="3069788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Geo Heatmap Analysis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439614" y="1988106"/>
            <a:ext cx="7306151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high-stress regions or campuses at a glance. Color-coded maps reveal emotional hotspots and areas of positive well-being.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156722" y="3006804"/>
            <a:ext cx="7803356" cy="1438156"/>
          </a:xfrm>
          <a:prstGeom prst="roundRect">
            <a:avLst>
              <a:gd name="adj" fmla="val 763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6"/>
          <p:cNvSpPr/>
          <p:nvPr/>
        </p:nvSpPr>
        <p:spPr>
          <a:xfrm>
            <a:off x="6133862" y="3006804"/>
            <a:ext cx="91440" cy="1438156"/>
          </a:xfrm>
          <a:prstGeom prst="roundRect">
            <a:avLst>
              <a:gd name="adj" fmla="val 3142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7"/>
          <p:cNvSpPr/>
          <p:nvPr/>
        </p:nvSpPr>
        <p:spPr>
          <a:xfrm>
            <a:off x="6439614" y="3221117"/>
            <a:ext cx="3314343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Event Correlation Engine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6439614" y="3617714"/>
            <a:ext cx="7306151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Automatically detect spikes in stress or sadness tied to exams, deadlines, or social events. Understand triggers and plan interventions.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156722" y="4636413"/>
            <a:ext cx="7803356" cy="1438156"/>
          </a:xfrm>
          <a:prstGeom prst="roundRect">
            <a:avLst>
              <a:gd name="adj" fmla="val 763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0"/>
          <p:cNvSpPr/>
          <p:nvPr/>
        </p:nvSpPr>
        <p:spPr>
          <a:xfrm>
            <a:off x="6133862" y="4636413"/>
            <a:ext cx="91440" cy="1438156"/>
          </a:xfrm>
          <a:prstGeom prst="roundRect">
            <a:avLst>
              <a:gd name="adj" fmla="val 3142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1"/>
          <p:cNvSpPr/>
          <p:nvPr/>
        </p:nvSpPr>
        <p:spPr>
          <a:xfrm>
            <a:off x="6439614" y="4850725"/>
            <a:ext cx="3160038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Word Cloud Intelligence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6439614" y="5247323"/>
            <a:ext cx="7306151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Visualize the most common emotion-related keywords and phrases in your community's conversations.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156722" y="6266021"/>
            <a:ext cx="7803356" cy="1438156"/>
          </a:xfrm>
          <a:prstGeom prst="roundRect">
            <a:avLst>
              <a:gd name="adj" fmla="val 7630"/>
            </a:avLst>
          </a:prstGeom>
          <a:solidFill>
            <a:srgbClr val="112836"/>
          </a:solidFill>
          <a:ln w="2286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133862" y="6266021"/>
            <a:ext cx="91440" cy="1438156"/>
          </a:xfrm>
          <a:prstGeom prst="roundRect">
            <a:avLst>
              <a:gd name="adj" fmla="val 31420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/>
          <p:nvPr/>
        </p:nvSpPr>
        <p:spPr>
          <a:xfrm>
            <a:off x="6439614" y="6480334"/>
            <a:ext cx="385119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Emotion Comparison Charts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6439614" y="6876931"/>
            <a:ext cx="7306151" cy="61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 sentiment patterns across age groups, regions, or departments to tailor support strategies effectively.</a:t>
            </a:r>
            <a:endParaRPr lang="en-US" sz="15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967F79-826A-F8B5-5708-DFF9A3E65E20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68556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Features for Proactive Care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452568"/>
            <a:ext cx="957501" cy="1436251"/>
          </a:xfrm>
          <a:prstGeom prst="roundRect">
            <a:avLst>
              <a:gd name="adj" fmla="val 360009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3328" y="2991207"/>
            <a:ext cx="358973" cy="3589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20940" y="2691884"/>
            <a:ext cx="360616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Wellness Assistant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520940" y="3187422"/>
            <a:ext cx="627173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Chatbot suggests resources when stress levels are high.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6324124" y="4128135"/>
            <a:ext cx="957501" cy="1436251"/>
          </a:xfrm>
          <a:prstGeom prst="roundRect">
            <a:avLst>
              <a:gd name="adj" fmla="val 360009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3328" y="4666774"/>
            <a:ext cx="358973" cy="358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20940" y="4367451"/>
            <a:ext cx="39670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Mood Prediction Engine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20940" y="4862989"/>
            <a:ext cx="627173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 future emotional trends based on historical data.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6324124" y="5803702"/>
            <a:ext cx="957501" cy="1740218"/>
          </a:xfrm>
          <a:prstGeom prst="roundRect">
            <a:avLst>
              <a:gd name="adj" fmla="val 360009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3328" y="6494264"/>
            <a:ext cx="358973" cy="3589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20940" y="60430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Trend Triggers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520940" y="6538555"/>
            <a:ext cx="627173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Set alerts for sudden spikes in negative sentiment (distress signals).</a:t>
            </a:r>
            <a:endParaRPr lang="en-US" sz="1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C2C1D8-5328-FB59-A3F3-FBA1E34C7A88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43720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Measuring Community Wellness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32386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78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6324124" y="4412813"/>
            <a:ext cx="229004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Community Health Index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24124" y="5260300"/>
            <a:ext cx="22900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Composite "Mental Wellness Score" (0–100 scale) for each region.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913376" y="332386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8%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8913376" y="4412813"/>
            <a:ext cx="229004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Summary Card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13376" y="5260300"/>
            <a:ext cx="22900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 insight: "Stress levels rose by 8% during exam week."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502628" y="3323868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24/7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11502628" y="4412813"/>
            <a:ext cx="229004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Anonymous Portal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2628" y="5260300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share feelings today, contributing to live, ethical data.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0FD8BE-76AA-064E-1E92-67C1F3C7A391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770" y="501848"/>
            <a:ext cx="6450092" cy="53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Design &amp; User Experience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38770" y="1403628"/>
            <a:ext cx="13352859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responsive, calm interface optimized for all devices.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70" y="2106097"/>
            <a:ext cx="6453783" cy="64537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5467" y="2203013"/>
            <a:ext cx="91202" cy="91202"/>
          </a:xfrm>
          <a:prstGeom prst="roundRect">
            <a:avLst>
              <a:gd name="adj" fmla="val 50130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7819192" y="2106097"/>
            <a:ext cx="2707719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Responsive Interface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819192" y="2557105"/>
            <a:ext cx="618005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Optimized for desktop and mobile use.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45467" y="3311009"/>
            <a:ext cx="91202" cy="91202"/>
          </a:xfrm>
          <a:prstGeom prst="roundRect">
            <a:avLst>
              <a:gd name="adj" fmla="val 50130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7819192" y="3214092"/>
            <a:ext cx="2147411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Calm Design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819192" y="3665101"/>
            <a:ext cx="618005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Minimalist aesthetic with soft pastels, white, and mint green.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5467" y="4419005"/>
            <a:ext cx="91202" cy="91202"/>
          </a:xfrm>
          <a:prstGeom prst="roundRect">
            <a:avLst>
              <a:gd name="adj" fmla="val 50130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7819192" y="4322088"/>
            <a:ext cx="2147411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Dark Mode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819192" y="4773097"/>
            <a:ext cx="618005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 light/dark modes for better user experience.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8B9443-B14A-83FA-7C4B-292D3CD4E3EF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469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086" y="2985254"/>
            <a:ext cx="6829306" cy="57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Ethics and Transparency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85086" y="3854648"/>
            <a:ext cx="13260229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commitment to privacy and ethical AI practices.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086" y="4387929"/>
            <a:ext cx="13260229" cy="1422916"/>
          </a:xfrm>
          <a:prstGeom prst="roundRect">
            <a:avLst>
              <a:gd name="adj" fmla="val 206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685086" y="4387929"/>
            <a:ext cx="4420076" cy="1422916"/>
          </a:xfrm>
          <a:prstGeom prst="roundRect">
            <a:avLst>
              <a:gd name="adj" fmla="val 2064"/>
            </a:avLst>
          </a:prstGeom>
          <a:solidFill>
            <a:srgbClr val="7AD18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880824" y="4583668"/>
            <a:ext cx="28198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Anonymization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0824" y="4988838"/>
            <a:ext cx="3734991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Ensuring all user data is protected and non-identifiable.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05162" y="4387929"/>
            <a:ext cx="4420076" cy="1422916"/>
          </a:xfrm>
          <a:prstGeom prst="rect">
            <a:avLst/>
          </a:prstGeom>
          <a:solidFill>
            <a:srgbClr val="7AD18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5105162" y="4387929"/>
            <a:ext cx="22860" cy="1422916"/>
          </a:xfrm>
          <a:prstGeom prst="roundRect">
            <a:avLst>
              <a:gd name="adj" fmla="val 128455"/>
            </a:avLst>
          </a:prstGeom>
          <a:solidFill>
            <a:srgbClr val="60B76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5594509" y="4583668"/>
            <a:ext cx="230302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Consent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94509" y="4988838"/>
            <a:ext cx="3441383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Clear policies on data usage and user permissions.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860488" y="4854654"/>
            <a:ext cx="489347" cy="489347"/>
          </a:xfrm>
          <a:prstGeom prst="roundRect">
            <a:avLst>
              <a:gd name="adj" fmla="val 6001"/>
            </a:avLst>
          </a:prstGeom>
          <a:solidFill>
            <a:srgbClr val="112836"/>
          </a:solidFill>
          <a:ln w="22860">
            <a:solidFill>
              <a:srgbClr val="60B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2766" y="4976932"/>
            <a:ext cx="244673" cy="24467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525238" y="4387929"/>
            <a:ext cx="4420076" cy="1422916"/>
          </a:xfrm>
          <a:prstGeom prst="rect">
            <a:avLst/>
          </a:prstGeom>
          <a:solidFill>
            <a:srgbClr val="7AD18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9525238" y="4387929"/>
            <a:ext cx="22860" cy="1422916"/>
          </a:xfrm>
          <a:prstGeom prst="roundRect">
            <a:avLst>
              <a:gd name="adj" fmla="val 128455"/>
            </a:avLst>
          </a:prstGeom>
          <a:solidFill>
            <a:srgbClr val="60B76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3"/>
          <p:cNvSpPr/>
          <p:nvPr/>
        </p:nvSpPr>
        <p:spPr>
          <a:xfrm>
            <a:off x="10014585" y="4583668"/>
            <a:ext cx="2647474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Ethical AI Practices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014585" y="4988838"/>
            <a:ext cx="3734991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Commitment to unbiased and responsible AI development.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280565" y="4854654"/>
            <a:ext cx="489347" cy="489347"/>
          </a:xfrm>
          <a:prstGeom prst="roundRect">
            <a:avLst>
              <a:gd name="adj" fmla="val 6001"/>
            </a:avLst>
          </a:prstGeom>
          <a:solidFill>
            <a:srgbClr val="112836"/>
          </a:solidFill>
          <a:ln w="22860">
            <a:solidFill>
              <a:srgbClr val="60B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2842" y="4976932"/>
            <a:ext cx="244673" cy="2446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086" y="6104453"/>
            <a:ext cx="13260229" cy="1589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Empowering Well-being, Responsibly.</a:t>
            </a:r>
            <a:endParaRPr lang="en-US" sz="5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FF923-18FC-ECAB-501A-7BA9495AACB1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3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1158" y="543044"/>
            <a:ext cx="4989195" cy="58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Path Forward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1158" y="1419939"/>
            <a:ext cx="7761684" cy="947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MindPulse AI empowers universities, organizations, and communities to build a culture of emotional awareness and proactive mental health support. By combining compassionate technology with human-centered care, we create environments where well-being thrives.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1158" y="2589967"/>
            <a:ext cx="7761684" cy="1127165"/>
          </a:xfrm>
          <a:prstGeom prst="roundRect">
            <a:avLst>
              <a:gd name="adj" fmla="val 4204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888563" y="2787372"/>
            <a:ext cx="2323267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🎯</a:t>
            </a: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Detect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88563" y="3203734"/>
            <a:ext cx="736687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Early warning signs through real-time emotional analysis.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1158" y="3914537"/>
            <a:ext cx="7761684" cy="1127165"/>
          </a:xfrm>
          <a:prstGeom prst="roundRect">
            <a:avLst>
              <a:gd name="adj" fmla="val 4204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888563" y="4111943"/>
            <a:ext cx="2323267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📊</a:t>
            </a: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Understand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8563" y="4528304"/>
            <a:ext cx="736687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 insights into community emotional patterns and triggers.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91158" y="5239107"/>
            <a:ext cx="7761684" cy="1127165"/>
          </a:xfrm>
          <a:prstGeom prst="roundRect">
            <a:avLst>
              <a:gd name="adj" fmla="val 4204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888563" y="5436513"/>
            <a:ext cx="2323267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💡</a:t>
            </a: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Support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8563" y="5852874"/>
            <a:ext cx="736687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Targeted interventions and resources where they're needed most.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91158" y="6563678"/>
            <a:ext cx="7761684" cy="1127165"/>
          </a:xfrm>
          <a:prstGeom prst="roundRect">
            <a:avLst>
              <a:gd name="adj" fmla="val 4204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888563" y="6761083"/>
            <a:ext cx="2323267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🌱</a:t>
            </a: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Thrive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8563" y="7177445"/>
            <a:ext cx="736687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Build communities where mental wellness is measurable and prioritized.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20C39E-4FEE-6317-5B9D-49A3C864A4B8}"/>
              </a:ext>
            </a:extLst>
          </p:cNvPr>
          <p:cNvSpPr/>
          <p:nvPr/>
        </p:nvSpPr>
        <p:spPr>
          <a:xfrm>
            <a:off x="12727459" y="7760043"/>
            <a:ext cx="1791730" cy="38306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C033F-ECC6-8EEB-DFA5-DDC4B0CDA93E}"/>
              </a:ext>
            </a:extLst>
          </p:cNvPr>
          <p:cNvSpPr txBox="1"/>
          <p:nvPr/>
        </p:nvSpPr>
        <p:spPr>
          <a:xfrm>
            <a:off x="975363" y="1581665"/>
            <a:ext cx="7117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chemeClr val="bg1"/>
                </a:solidFill>
                <a:latin typeface="Unbounded" panose="020B060402020202020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MindPulse AI</a:t>
            </a:r>
            <a:endParaRPr lang="en-ZA" sz="5400" dirty="0">
              <a:solidFill>
                <a:schemeClr val="bg1"/>
              </a:solidFill>
              <a:latin typeface="Unbounded" panose="020B0604020202020204" charset="0"/>
            </a:endParaRPr>
          </a:p>
        </p:txBody>
      </p:sp>
      <p:pic>
        <p:nvPicPr>
          <p:cNvPr id="6" name="Picture 5" descr="A qr code with a white background">
            <a:extLst>
              <a:ext uri="{FF2B5EF4-FFF2-40B4-BE49-F238E27FC236}">
                <a16:creationId xmlns:a16="http://schemas.microsoft.com/office/drawing/2014/main" id="{62F91BDF-6EDB-81B0-71D7-2CF4FAE6F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987" y="1581665"/>
            <a:ext cx="5456797" cy="5456797"/>
          </a:xfrm>
          <a:prstGeom prst="rect">
            <a:avLst/>
          </a:prstGeom>
        </p:spPr>
      </p:pic>
      <p:sp>
        <p:nvSpPr>
          <p:cNvPr id="7" name="Text 16">
            <a:extLst>
              <a:ext uri="{FF2B5EF4-FFF2-40B4-BE49-F238E27FC236}">
                <a16:creationId xmlns:a16="http://schemas.microsoft.com/office/drawing/2014/main" id="{6742FA84-7401-FB60-AB0A-24DA1B257662}"/>
              </a:ext>
            </a:extLst>
          </p:cNvPr>
          <p:cNvSpPr/>
          <p:nvPr/>
        </p:nvSpPr>
        <p:spPr>
          <a:xfrm>
            <a:off x="975363" y="3809677"/>
            <a:ext cx="7018638" cy="322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25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</a:p>
          <a:p>
            <a:pPr marL="0" indent="0" algn="l">
              <a:lnSpc>
                <a:spcPts val="6250"/>
              </a:lnSpc>
              <a:buNone/>
            </a:pPr>
            <a:endParaRPr lang="en-US" sz="5000" dirty="0">
              <a:solidFill>
                <a:srgbClr val="FFFFFF"/>
              </a:solidFill>
              <a:latin typeface="Unbounded" pitchFamily="34" charset="0"/>
            </a:endParaRPr>
          </a:p>
          <a:p>
            <a:pPr marL="0" indent="0" algn="l">
              <a:lnSpc>
                <a:spcPts val="6250"/>
              </a:lnSpc>
              <a:buNone/>
            </a:pPr>
            <a:endParaRPr lang="en-US" sz="5000" dirty="0">
              <a:solidFill>
                <a:srgbClr val="FFFFFF"/>
              </a:solidFill>
              <a:latin typeface="Unbounded" pitchFamily="34" charset="0"/>
            </a:endParaRPr>
          </a:p>
          <a:p>
            <a:pPr marL="0" indent="0" algn="ctr">
              <a:lnSpc>
                <a:spcPts val="625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Unbounded" pitchFamily="34" charset="0"/>
              </a:rPr>
              <a:t>Q&amp;A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698257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9E36F6204E5D42B0BDA587A0CE2747" ma:contentTypeVersion="10" ma:contentTypeDescription="Create a new document." ma:contentTypeScope="" ma:versionID="27506023e5c86b78b4597890fa518064">
  <xsd:schema xmlns:xsd="http://www.w3.org/2001/XMLSchema" xmlns:xs="http://www.w3.org/2001/XMLSchema" xmlns:p="http://schemas.microsoft.com/office/2006/metadata/properties" xmlns:ns2="d2a05b34-63e7-4133-85a3-c07fbf710c76" xmlns:ns3="d920c215-86cc-4ef5-94da-014ab4506ca7" targetNamespace="http://schemas.microsoft.com/office/2006/metadata/properties" ma:root="true" ma:fieldsID="97598a995b94cd7e55f19a9761c67907" ns2:_="" ns3:_="">
    <xsd:import namespace="d2a05b34-63e7-4133-85a3-c07fbf710c76"/>
    <xsd:import namespace="d920c215-86cc-4ef5-94da-014ab4506c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05b34-63e7-4133-85a3-c07fbf710c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66b7f75-f62d-4b7a-b8a1-4b1a340ee1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20c215-86cc-4ef5-94da-014ab4506ca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03751b-b6a1-405c-8b05-3b87400c447c}" ma:internalName="TaxCatchAll" ma:showField="CatchAllData" ma:web="d920c215-86cc-4ef5-94da-014ab4506c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a05b34-63e7-4133-85a3-c07fbf710c76">
      <Terms xmlns="http://schemas.microsoft.com/office/infopath/2007/PartnerControls"/>
    </lcf76f155ced4ddcb4097134ff3c332f>
    <TaxCatchAll xmlns="d920c215-86cc-4ef5-94da-014ab4506ca7" xsi:nil="true"/>
  </documentManagement>
</p:properties>
</file>

<file path=customXml/itemProps1.xml><?xml version="1.0" encoding="utf-8"?>
<ds:datastoreItem xmlns:ds="http://schemas.openxmlformats.org/officeDocument/2006/customXml" ds:itemID="{9B92D0CA-ABB3-49DF-A313-BF84AF0DA2FB}"/>
</file>

<file path=customXml/itemProps2.xml><?xml version="1.0" encoding="utf-8"?>
<ds:datastoreItem xmlns:ds="http://schemas.openxmlformats.org/officeDocument/2006/customXml" ds:itemID="{1633492D-DB1F-45A9-AA9B-790EC7BB876D}"/>
</file>

<file path=customXml/itemProps3.xml><?xml version="1.0" encoding="utf-8"?>
<ds:datastoreItem xmlns:ds="http://schemas.openxmlformats.org/officeDocument/2006/customXml" ds:itemID="{BB561C7D-2B0D-4B72-AAF1-FC6BB508994E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580</Words>
  <Application>Microsoft Office PowerPoint</Application>
  <PresentationFormat>Custom</PresentationFormat>
  <Paragraphs>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Unbounded</vt:lpstr>
      <vt:lpstr>Arial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Yazeed Adams</cp:lastModifiedBy>
  <cp:revision>2</cp:revision>
  <dcterms:created xsi:type="dcterms:W3CDTF">2025-10-31T12:00:10Z</dcterms:created>
  <dcterms:modified xsi:type="dcterms:W3CDTF">2025-10-31T12:19:03Z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0x010100649E36F6204E5D42B0BDA587A0CE2747</vt:lpwstr>
  </property>
</Properties>
</file>